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RQL</c:v>
                </c:pt>
              </c:strCache>
            </c:strRef>
          </c:tx>
          <c:spPr>
            <a:solidFill>
              <a:srgbClr val="0A7C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1.301</c:v>
                </c:pt>
                <c:pt idx="1">
                  <c:v>2.277</c:v>
                </c:pt>
                <c:pt idx="2">
                  <c:v>2.473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RH</c:v>
                </c:pt>
              </c:strCache>
            </c:strRef>
          </c:tx>
          <c:spPr>
            <a:solidFill>
              <a:srgbClr val="D6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1.457</c:v>
                </c:pt>
                <c:pt idx="1">
                  <c:v>2.722</c:v>
                </c:pt>
                <c:pt idx="2">
                  <c:v>2.677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MXS+MF</c:v>
                </c:pt>
              </c:strCache>
            </c:strRef>
          </c:tx>
          <c:spPr>
            <a:solidFill>
              <a:srgbClr val="2E7D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2.284</c:v>
                </c:pt>
                <c:pt idx="1">
                  <c:v>3.332</c:v>
                </c:pt>
                <c:pt idx="2">
                  <c:v>3.5869999999999997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MPV-SLK-EFT</c:v>
                </c:pt>
              </c:strCache>
            </c:strRef>
          </c:tx>
          <c:spPr>
            <a:solidFill>
              <a:srgbClr val="3D6C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2.202</c:v>
                </c:pt>
                <c:pt idx="1">
                  <c:v>3.8329999999999997</c:v>
                </c:pt>
                <c:pt idx="2">
                  <c:v>3.8329999999999997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QL</c:v>
                </c:pt>
              </c:strCache>
            </c:strRef>
          </c:tx>
          <c:spPr>
            <a:solidFill>
              <a:srgbClr val="B64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1.992</c:v>
                </c:pt>
                <c:pt idx="1">
                  <c:v>5.1433333333333335</c:v>
                </c:pt>
                <c:pt idx="2">
                  <c:v>13.229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 RH 降低 AOTV</c:v>
                </c:pt>
              </c:strCache>
            </c:strRef>
          </c:tx>
          <c:spPr>
            <a:solidFill>
              <a:srgbClr val="0A7C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10.706932052161985</c:v>
                </c:pt>
                <c:pt idx="1">
                  <c:v>16.348273328434967</c:v>
                </c:pt>
                <c:pt idx="2">
                  <c:v>7.620470676130004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相对最佳确定性启发式降低 AOTV</c:v>
                </c:pt>
              </c:strCache>
            </c:strRef>
          </c:tx>
          <c:spPr>
            <a:solidFill>
              <a:srgbClr val="D6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40.917347865576744</c:v>
                </c:pt>
                <c:pt idx="1">
                  <c:v>31.662665066026403</c:v>
                </c:pt>
                <c:pt idx="2">
                  <c:v>31.05659325341511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RQL</c:v>
                </c:pt>
              </c:strCache>
            </c:strRef>
          </c:tx>
          <c:spPr>
            <a:solidFill>
              <a:srgbClr val="0A7C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8.145932338323643</c:v>
                </c:pt>
                <c:pt idx="1">
                  <c:v>25.423491765840552</c:v>
                </c:pt>
                <c:pt idx="2">
                  <c:v>25.316134200345473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RH</c:v>
                </c:pt>
              </c:strCache>
            </c:strRef>
          </c:tx>
          <c:spPr>
            <a:solidFill>
              <a:srgbClr val="D6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23.085524346240014</c:v>
                </c:pt>
                <c:pt idx="1">
                  <c:v>51.442821776058295</c:v>
                </c:pt>
                <c:pt idx="2">
                  <c:v>38.52036089304709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MXS+MF</c:v>
                </c:pt>
              </c:strCache>
            </c:strRef>
          </c:tx>
          <c:spPr>
            <a:solidFill>
              <a:srgbClr val="2E7D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87.59904460651937</c:v>
                </c:pt>
                <c:pt idx="1">
                  <c:v>90.2467949596326</c:v>
                </c:pt>
                <c:pt idx="2">
                  <c:v>77.92573004941707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MPV-SLK-EFT</c:v>
                </c:pt>
              </c:strCache>
            </c:strRef>
          </c:tx>
          <c:spPr>
            <a:solidFill>
              <a:srgbClr val="3D6C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76.00142597408617</c:v>
                </c:pt>
                <c:pt idx="1">
                  <c:v>120.47692865789237</c:v>
                </c:pt>
                <c:pt idx="2">
                  <c:v>93.90743631179437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QL</c:v>
                </c:pt>
              </c:strCache>
            </c:strRef>
          </c:tx>
          <c:spPr>
            <a:solidFill>
              <a:srgbClr val="B64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J10</c:v>
                  </c:pt>
                  <c:pt idx="1">
                    <c:v>J20</c:v>
                  </c:pt>
                  <c:pt idx="2">
                    <c:v>J30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56.63372400076196</c:v>
                </c:pt>
                <c:pt idx="1">
                  <c:v>202.3702147824686</c:v>
                </c:pt>
                <c:pt idx="2">
                  <c:v>679.0819366629166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J10 decoded penalty</c:v>
                </c:pt>
              </c:strCache>
            </c:strRef>
          </c:tx>
          <c:spPr>
            <a:solidFill>
              <a:srgbClr val="0A7C78"/>
            </a:solidFill>
            <a:ln w="25400" cap="flat">
              <a:solidFill>
                <a:srgbClr val="0A7C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7C78"/>
              </a:solidFill>
              <a:ln w="9525" cap="flat">
                <a:solidFill>
                  <a:srgbClr val="0A7C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100</c:v>
                  </c:pt>
                  <c:pt idx="1">
                    <c:v>200</c:v>
                  </c:pt>
                  <c:pt idx="2">
                    <c:v>300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J20 decoded penalty</c:v>
                </c:pt>
              </c:strCache>
            </c:strRef>
          </c:tx>
          <c:spPr>
            <a:solidFill>
              <a:srgbClr val="D69B2D"/>
            </a:solidFill>
            <a:ln w="25400" cap="flat">
              <a:solidFill>
                <a:srgbClr val="D69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9B2D"/>
              </a:solidFill>
              <a:ln w="9525" cap="flat">
                <a:solidFill>
                  <a:srgbClr val="D69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100</c:v>
                  </c:pt>
                  <c:pt idx="1">
                    <c:v>200</c:v>
                  </c:pt>
                  <c:pt idx="2">
                    <c:v>300</c:v>
                  </c:pt>
                  <c:pt idx="3">
                    <c:v>400</c:v>
                  </c:pt>
                  <c:pt idx="4">
                    <c:v>500</c:v>
                  </c:pt>
                  <c:pt idx="5">
                    <c:v>600</c:v>
                  </c:pt>
                  <c:pt idx="6">
                    <c:v>700</c:v>
                  </c:pt>
                  <c:pt idx="7">
                    <c:v>800</c:v>
                  </c:pt>
                  <c:pt idx="8">
                    <c:v>900</c:v>
                  </c:pt>
                  <c:pt idx="9">
                    <c:v>1000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J30 decoded penalty</c:v>
                </c:pt>
              </c:strCache>
            </c:strRef>
          </c:tx>
          <c:spPr>
            <a:solidFill>
              <a:srgbClr val="B64A3D"/>
            </a:solidFill>
            <a:ln w="25400" cap="flat">
              <a:solidFill>
                <a:srgbClr val="B64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64A3D"/>
              </a:solidFill>
              <a:ln w="9525" cap="flat">
                <a:solidFill>
                  <a:srgbClr val="B64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100</c:v>
                  </c:pt>
                  <c:pt idx="1">
                    <c:v>200</c:v>
                  </c:pt>
                  <c:pt idx="2">
                    <c:v>300</c:v>
                  </c:pt>
                  <c:pt idx="3">
                    <c:v>400</c:v>
                  </c:pt>
                  <c:pt idx="4">
                    <c:v>500</c:v>
                  </c:pt>
                  <c:pt idx="5">
                    <c:v>600</c:v>
                  </c:pt>
                  <c:pt idx="6">
                    <c:v>700</c:v>
                  </c:pt>
                  <c:pt idx="7">
                    <c:v>800</c:v>
                  </c:pt>
                  <c:pt idx="8">
                    <c:v>900</c:v>
                  </c:pt>
                  <c:pt idx="9">
                    <c:v>1000</c:v>
                  </c:pt>
                  <c:pt idx="10">
                    <c:v>1100</c:v>
                  </c:pt>
                  <c:pt idx="11">
                    <c:v>1200</c:v>
                  </c:pt>
                  <c:pt idx="12">
                    <c:v>1300</c:v>
                  </c:pt>
                  <c:pt idx="13">
                    <c:v>1400</c:v>
                  </c:pt>
                  <c:pt idx="14">
                    <c:v>1500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17.5</c:v>
                </c:pt>
                <c:pt idx="1">
                  <c:v>7.8</c:v>
                </c:pt>
                <c:pt idx="2">
                  <c:v>7.7</c:v>
                </c:pt>
                <c:pt idx="3">
                  <c:v>3.8</c:v>
                </c:pt>
                <c:pt idx="4">
                  <c:v>7</c:v>
                </c:pt>
                <c:pt idx="5">
                  <c:v>16.3</c:v>
                </c:pt>
                <c:pt idx="6">
                  <c:v>23.4</c:v>
                </c:pt>
                <c:pt idx="7">
                  <c:v>8.1</c:v>
                </c:pt>
                <c:pt idx="8">
                  <c:v>6.9</c:v>
                </c:pt>
                <c:pt idx="9">
                  <c:v>11.5</c:v>
                </c:pt>
                <c:pt idx="10">
                  <c:v>13.6</c:v>
                </c:pt>
                <c:pt idx="11">
                  <c:v>5.6</c:v>
                </c:pt>
                <c:pt idx="12">
                  <c:v>14.3</c:v>
                </c:pt>
                <c:pt idx="13">
                  <c:v>8.9</c:v>
                </c:pt>
                <c:pt idx="14">
                  <c:v>5.9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82896" cy="6858000"/>
          </a:xfrm>
          <a:prstGeom prst="rect">
            <a:avLst/>
          </a:prstGeom>
          <a:solidFill>
            <a:srgbClr val="0B2524">
              <a:alpha val="82000"/>
            </a:srgbClr>
          </a:solidFill>
          <a:ln w="12700">
            <a:solidFill>
              <a:srgbClr val="0B25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5156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Rollout-Q-learning 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动态调度算法设计与实验分析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94944" y="2542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7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多技能资源约束 · 任务可中断 · 里程碑延迟惩罚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D69B2D"/>
          </a:solidFill>
          <a:ln w="12700">
            <a:solidFill>
              <a:srgbClr val="D69B2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31318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J10 / J20 / J30 正式实验结果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99232" y="3063240"/>
            <a:ext cx="2011680" cy="329184"/>
          </a:xfrm>
          <a:prstGeom prst="roundRect">
            <a:avLst>
              <a:gd name="adj" fmla="val 11111"/>
            </a:avLst>
          </a:prstGeom>
          <a:solidFill>
            <a:srgbClr val="34A59B"/>
          </a:solidFill>
          <a:ln w="12700">
            <a:solidFill>
              <a:srgbClr val="34A59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313182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RQL vs 启发式 / QL / RH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348472" y="1124712"/>
            <a:ext cx="1280160" cy="-36576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28632" y="758952"/>
            <a:ext cx="960120" cy="82296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48472" y="1124712"/>
            <a:ext cx="502920" cy="114300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51392" y="2267712"/>
            <a:ext cx="1508760" cy="41148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51392" y="2267712"/>
            <a:ext cx="411480" cy="150876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60152" y="2679192"/>
            <a:ext cx="777240" cy="132588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62872" y="3776472"/>
            <a:ext cx="-914400" cy="146304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62872" y="3776472"/>
            <a:ext cx="731520" cy="132588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137392" y="4005072"/>
            <a:ext cx="-45720" cy="178308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94392" y="5102352"/>
            <a:ext cx="1097280" cy="685800"/>
          </a:xfrm>
          <a:prstGeom prst="line">
            <a:avLst/>
          </a:prstGeom>
          <a:noFill/>
          <a:ln w="22860">
            <a:solidFill>
              <a:srgbClr val="79BDB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0" y="1005840"/>
            <a:ext cx="310896" cy="310896"/>
          </a:xfrm>
          <a:prstGeom prst="ellipse">
            <a:avLst/>
          </a:prstGeom>
          <a:solidFill>
            <a:srgbClr val="34A59B"/>
          </a:solidFill>
          <a:ln w="12700">
            <a:solidFill>
              <a:srgbClr val="34A59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640080"/>
            <a:ext cx="310896" cy="310896"/>
          </a:xfrm>
          <a:prstGeom prst="ellipse">
            <a:avLst/>
          </a:prstGeom>
          <a:solidFill>
            <a:srgbClr val="D9EFE9"/>
          </a:solidFill>
          <a:ln w="12700">
            <a:solidFill>
              <a:srgbClr val="D9EFE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69880" y="1463040"/>
            <a:ext cx="310896" cy="310896"/>
          </a:xfrm>
          <a:prstGeom prst="ellipse">
            <a:avLst/>
          </a:prstGeom>
          <a:solidFill>
            <a:srgbClr val="D9EFE9"/>
          </a:solidFill>
          <a:ln w="12700">
            <a:solidFill>
              <a:srgbClr val="D9EFE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148840"/>
            <a:ext cx="310896" cy="310896"/>
          </a:xfrm>
          <a:prstGeom prst="ellipse">
            <a:avLst/>
          </a:prstGeom>
          <a:solidFill>
            <a:srgbClr val="34A59B"/>
          </a:solidFill>
          <a:ln w="12700">
            <a:solidFill>
              <a:srgbClr val="34A59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0" y="2560320"/>
            <a:ext cx="310896" cy="310896"/>
          </a:xfrm>
          <a:prstGeom prst="ellipse">
            <a:avLst/>
          </a:prstGeom>
          <a:solidFill>
            <a:srgbClr val="D9EFE9"/>
          </a:solidFill>
          <a:ln w="12700">
            <a:solidFill>
              <a:srgbClr val="D9EFE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657600"/>
            <a:ext cx="310896" cy="310896"/>
          </a:xfrm>
          <a:prstGeom prst="ellipse">
            <a:avLst/>
          </a:prstGeom>
          <a:solidFill>
            <a:srgbClr val="D9EFE9"/>
          </a:solidFill>
          <a:ln w="12700">
            <a:solidFill>
              <a:srgbClr val="D9EFE9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18520" y="3886200"/>
            <a:ext cx="310896" cy="310896"/>
          </a:xfrm>
          <a:prstGeom prst="ellipse">
            <a:avLst/>
          </a:prstGeom>
          <a:solidFill>
            <a:srgbClr val="34A59B"/>
          </a:solidFill>
          <a:ln w="12700">
            <a:solidFill>
              <a:srgbClr val="34A59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5120640"/>
            <a:ext cx="310896" cy="310896"/>
          </a:xfrm>
          <a:prstGeom prst="ellipse">
            <a:avLst/>
          </a:prstGeom>
          <a:solidFill>
            <a:srgbClr val="D9EFE9"/>
          </a:solidFill>
          <a:ln w="12700">
            <a:solidFill>
              <a:srgbClr val="D9EFE9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4983480"/>
            <a:ext cx="310896" cy="310896"/>
          </a:xfrm>
          <a:prstGeom prst="ellipse">
            <a:avLst/>
          </a:prstGeom>
          <a:solidFill>
            <a:srgbClr val="D9EFE9"/>
          </a:solidFill>
          <a:ln w="12700">
            <a:solidFill>
              <a:srgbClr val="D9EFE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0" y="5669280"/>
            <a:ext cx="310896" cy="310896"/>
          </a:xfrm>
          <a:prstGeom prst="ellipse">
            <a:avLst/>
          </a:prstGeom>
          <a:solidFill>
            <a:srgbClr val="D69B2D"/>
          </a:solidFill>
          <a:ln w="12700">
            <a:solidFill>
              <a:srgbClr val="D69B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6263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B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背景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研究背景：动态项目调度的三类压力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实际项目调度不是静态排序问题，调度器同时面对资源异质性、执行扰动和阶段性交付约束。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1097280" y="1938528"/>
            <a:ext cx="2011680" cy="2011680"/>
          </a:xfrm>
          <a:prstGeom prst="ellipse">
            <a:avLst/>
          </a:prstGeom>
          <a:solidFill>
            <a:srgbClr val="DDF0ED">
              <a:alpha val="94000"/>
            </a:srgbClr>
          </a:solidFill>
          <a:ln w="15240">
            <a:solidFill>
              <a:srgbClr val="0A7C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767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多技能人员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315968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同一任务由不同人员执行时耗时不同，且技能匹配约束决定可行动作集合。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983480" y="1938528"/>
            <a:ext cx="2011680" cy="2011680"/>
          </a:xfrm>
          <a:prstGeom prst="ellipse">
            <a:avLst/>
          </a:prstGeom>
          <a:solidFill>
            <a:srgbClr val="F3E2B8">
              <a:alpha val="94000"/>
            </a:srgbClr>
          </a:solidFill>
          <a:ln w="15240">
            <a:solidFill>
              <a:srgbClr val="D69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任务可中断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4315968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执行过程中可能需要释放人员、恢复任务，当前决策会改变后续可行域。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732520" y="1938528"/>
            <a:ext cx="2011680" cy="2011680"/>
          </a:xfrm>
          <a:prstGeom prst="ellipse">
            <a:avLst/>
          </a:prstGeom>
          <a:solidFill>
            <a:srgbClr val="F0D8D3">
              <a:alpha val="94000"/>
            </a:srgbClr>
          </a:solidFill>
          <a:ln w="15240">
            <a:solidFill>
              <a:srgbClr val="B64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64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2396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里程碑惩罚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03920" y="4315968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目标不只追求完工时间，而是最小化各里程碑的加权延迟惩罚。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58368" y="5559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算法目标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5559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在离散决策时刻选择“任务-人员-执行方式”，使所有里程碑加权延迟惩罚之和最小。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参考: 算法设计文档与当前代码实现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问题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问题描述：约束网络、人员技能与里程碑共同定义目标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07592" y="2039112"/>
            <a:ext cx="1179576" cy="-54864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07592" y="2039112"/>
            <a:ext cx="1179576" cy="54864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87752" y="1490472"/>
            <a:ext cx="1179576" cy="-18288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87752" y="2587752"/>
            <a:ext cx="1179576" cy="22860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67912" y="1307592"/>
            <a:ext cx="1088136" cy="77724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67912" y="2816352"/>
            <a:ext cx="1088136" cy="-73152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56632" y="2084832"/>
            <a:ext cx="1133856" cy="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1874520"/>
            <a:ext cx="438912" cy="438912"/>
          </a:xfrm>
          <a:prstGeom prst="ellipse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1984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0" y="1325880"/>
            <a:ext cx="438912" cy="438912"/>
          </a:xfrm>
          <a:prstGeom prst="ellipse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14356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2423160"/>
            <a:ext cx="438912" cy="438912"/>
          </a:xfrm>
          <a:prstGeom prst="ellipse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25328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1143000"/>
            <a:ext cx="438912" cy="438912"/>
          </a:xfrm>
          <a:prstGeom prst="ellipse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25272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0" y="2651760"/>
            <a:ext cx="438912" cy="438912"/>
          </a:xfrm>
          <a:prstGeom prst="ellipse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7614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1920240"/>
            <a:ext cx="566928" cy="475488"/>
          </a:xfrm>
          <a:prstGeom prst="diamond">
            <a:avLst/>
          </a:prstGeom>
          <a:solidFill>
            <a:srgbClr val="D69B2D"/>
          </a:solidFill>
          <a:ln w="12700">
            <a:solidFill>
              <a:srgbClr val="D69B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02996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1920240"/>
            <a:ext cx="438912" cy="438912"/>
          </a:xfrm>
          <a:prstGeom prst="ellipse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20299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任务网络 DAG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95160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优化目标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Σ  w_m · max(0, C_m - D_m)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967728" y="2633472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25420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前序约束：任务必须在所有紧前任务完成后才可执行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967728" y="3127248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6328" y="303580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资源约束：每名人员同一时刻最多执行一个任务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967728" y="3621024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352958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技能约束：人员必须满足任务技能要求，执行时间与人员相关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967728" y="4114800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402336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中断恢复：任务可中断，但恢复动作需从已有进度继续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967728" y="4608576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96328" y="45171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规模定义：J10 表示 10 个真实任务，文件总节点数为 J+2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目标函数: 里程碑加权延迟惩罚，越小越好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算法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算法总体框架：训练阶段学习动作价值，构解阶段形成调度方案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DDF0ED"/>
          </a:solidFill>
          <a:ln w="12700">
            <a:solidFill>
              <a:srgbClr val="DDF0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11096"/>
            <a:ext cx="1472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输入项目数据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人员 / 里程碑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DDF0ED"/>
          </a:solidFill>
          <a:ln w="12700">
            <a:solidFill>
              <a:srgbClr val="DDF0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911096"/>
            <a:ext cx="13807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初始化环境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状态空间 + Q表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3E2B8"/>
          </a:solidFill>
          <a:ln w="12700">
            <a:solidFill>
              <a:srgbClr val="F3E2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911096"/>
            <a:ext cx="12893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 采样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记录轨迹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3E2B8"/>
          </a:solidFill>
          <a:ln w="12700">
            <a:solidFill>
              <a:srgbClr val="F3E2B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911096"/>
            <a:ext cx="1472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 结束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统一更新 Q表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549640" y="18288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0D8D3"/>
          </a:solidFill>
          <a:ln w="12700">
            <a:solidFill>
              <a:srgbClr val="F0D8D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1911096"/>
            <a:ext cx="14721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最终构解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+ cost-to-go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561320" y="182880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8EEE7"/>
          </a:solidFill>
          <a:ln w="12700">
            <a:solidFill>
              <a:srgbClr val="E8EEE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71048" y="1911096"/>
            <a:ext cx="7406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输出方案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总延误惩罚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2423160" y="2194560"/>
            <a:ext cx="320040" cy="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43400" y="2194560"/>
            <a:ext cx="320040" cy="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2194560"/>
            <a:ext cx="320040" cy="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365760" cy="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22992" y="2194560"/>
            <a:ext cx="338328" cy="0"/>
          </a:xfrm>
          <a:prstGeom prst="line">
            <a:avLst/>
          </a:prstGeom>
          <a:noFill/>
          <a:ln w="22860">
            <a:solidFill>
              <a:srgbClr val="0A7C7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83480" y="960120"/>
            <a:ext cx="2880360" cy="2148840"/>
          </a:xfrm>
          <a:prstGeom prst="arc">
            <a:avLst/>
          </a:prstGeom>
          <a:noFill/>
          <a:ln w="25400">
            <a:solidFill>
              <a:srgbClr val="D69B2D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20640" y="1051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D6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 episode 直到达到 EP 或 Q表收敛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91440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Q(s,a)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14400" y="4489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训练阶段: 探索动作集合并学习状态-动作价值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65760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6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CTG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657600" y="44897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前瞻机制: 用启发式估计候选动作的后续代价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40080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6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0" y="4489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构解阶段: beam search 控制质量与时间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235440" y="3977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64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S*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235440" y="44897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最终输出: 调度计划与 penalty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RQL = Q-learning policy + rollout cost-to-go assisted decoding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算法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状态、动作与奖励：让 Q 表看到调度压力和动作差异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298448" cy="777240"/>
          </a:xfrm>
          <a:prstGeom prst="hexagon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NLF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网络层级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514600" y="1417320"/>
            <a:ext cx="1298448" cy="777240"/>
          </a:xfrm>
          <a:prstGeom prst="hexagon">
            <a:avLst/>
          </a:prstGeom>
          <a:solidFill>
            <a:srgbClr val="E8EEE7"/>
          </a:solidFill>
          <a:ln w="12700">
            <a:solidFill>
              <a:srgbClr val="2E7D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SBI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技能瓶颈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1298448" cy="777240"/>
          </a:xfrm>
          <a:prstGeom prst="hexagon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里程碑紧迫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1298448" cy="777240"/>
          </a:xfrm>
          <a:prstGeom prst="hexagon">
            <a:avLst/>
          </a:prstGeom>
          <a:solidFill>
            <a:srgbClr val="E8EEE7"/>
          </a:solidFill>
          <a:ln w="12700">
            <a:solidFill>
              <a:srgbClr val="2E7D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资源利用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1298448" cy="777240"/>
          </a:xfrm>
          <a:prstGeom prst="hexagon">
            <a:avLst/>
          </a:prstGeom>
          <a:solidFill>
            <a:srgbClr val="DDF0ED"/>
          </a:solidFill>
          <a:ln w="12700">
            <a:solidFill>
              <a:srgbClr val="0A7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关键运行任务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829800" y="1417320"/>
            <a:ext cx="1298448" cy="777240"/>
          </a:xfrm>
          <a:prstGeom prst="hexagon">
            <a:avLst/>
          </a:prstGeom>
          <a:solidFill>
            <a:srgbClr val="E8EEE7"/>
          </a:solidFill>
          <a:ln w="12700">
            <a:solidFill>
              <a:srgbClr val="2E7D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3952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ITN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中断任务数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965960" y="23957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离散状态 s = (NLF, SBI, MUR, RUR, CRT, ITN)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完整动作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3E2B8"/>
          </a:solidFill>
          <a:ln w="12700">
            <a:solidFill>
              <a:srgbClr val="F3E2B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831336"/>
            <a:ext cx="20665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动作类型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 / resume / continue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E8EEE7"/>
          </a:solidFill>
          <a:ln w="12700">
            <a:solidFill>
              <a:srgbClr val="E8EEE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831336"/>
            <a:ext cx="13350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任务编号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task_id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806440" y="3749040"/>
            <a:ext cx="1645920" cy="749808"/>
          </a:xfrm>
          <a:prstGeom prst="roundRect">
            <a:avLst>
              <a:gd name="adj" fmla="val 7317"/>
            </a:avLst>
          </a:prstGeom>
          <a:solidFill>
            <a:srgbClr val="E8EEE7"/>
          </a:solidFill>
          <a:ln w="12700">
            <a:solidFill>
              <a:srgbClr val="E8EEE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6168" y="3831336"/>
            <a:ext cx="1426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人员编号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person_id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3200400" y="4114800"/>
            <a:ext cx="548640" cy="0"/>
          </a:xfrm>
          <a:prstGeom prst="line">
            <a:avLst/>
          </a:prstGeom>
          <a:noFill/>
          <a:ln w="22860">
            <a:solidFill>
              <a:srgbClr val="D69B2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4114800"/>
            <a:ext cx="502920" cy="0"/>
          </a:xfrm>
          <a:prstGeom prst="line">
            <a:avLst/>
          </a:prstGeom>
          <a:noFill/>
          <a:ln w="22860">
            <a:solidFill>
              <a:srgbClr val="D69B2D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325880" y="4709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(action_type, task_id, person_id)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奖励组合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3767328"/>
            <a:ext cx="38404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r_update = local_scale · r_local + global_scale · (-penalty)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092440" y="4736592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6451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局部奖励包含即时反馈与 cost-to-go 前瞻收益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5129784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50383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全局奖励由 episode 结束后的总延误惩罚给出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5522976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543153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表按完整动作存值，避免不同任务/人员被混成同一动作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状态特征统一为当前代码中的 6 维离散表示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算法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 RQL 参数：分规模收敛配置，而不是统一套用一组参数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定参逻辑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8308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J10 使用 checkpoint 配置：保持较短 EP，选择训练过程中的最佳 Q 表快照。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713232" y="2350008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25856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J20/J30 使用 combined 配置：checkpoint + 里程碑惩罚权重归一化 + lookahead warmup。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13232" y="2825496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734056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后期探索率降低到 0.005，alpha 逐步衰减并保留 0.01 下限。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13232" y="3300984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20954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正式实验中 RQL 按每个案例 3 个 seed 的最优 penalty 进入实例级统计。</a:t>
            </a:r>
            <a:endParaRPr lang="en-US" sz="112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463040"/>
          <a:ext cx="4800600" cy="2084832"/>
        </p:xfrm>
        <a:graphic>
          <a:graphicData uri="http://schemas.openxmlformats.org/drawingml/2006/table">
            <a:tbl>
              <a:tblPr/>
              <a:tblGrid>
                <a:gridCol w="685800"/>
                <a:gridCol w="1143000"/>
                <a:gridCol w="59436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profile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关键设置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J10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best-Q checkpoint, late epsilon, alpha floor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J20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combined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 + normalization + warmup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J30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combined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 + normalization + warmup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720840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收敛策略的含义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48272" y="4572000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76872" y="448056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 解决“最后一轮 Q 表未必最好”的问题。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48272" y="5001768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6872" y="49103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归一化削弱不同规模里程碑权重总量差异。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48272" y="5431536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76872" y="53400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warmup 避免前期 cost-to-go 信号过早主导探索。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参数来自 RQL 收敛性实验与后续 scale-specific 对比实验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实验设置：固定案例集、多方法统一评价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417320"/>
          <a:ext cx="5577840" cy="2743200"/>
        </p:xfrm>
        <a:graphic>
          <a:graphicData uri="http://schemas.openxmlformats.org/drawingml/2006/table">
            <a:tbl>
              <a:tblPr/>
              <a:tblGrid>
                <a:gridCol w="1143000"/>
                <a:gridCol w="4434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案例规模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J10、J20、J30；每个规模取 100 个正式案例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运行次数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随机方法每个案例 3 个 seed；确定性启发式运行 1 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对比方法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MPV-SLK-EFT、MXS+MF、SLK-EFT、SPT、ECT、FIFO、QL、RH、RQL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统计指标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B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AOTV、Best、Std、ARPD、Time；penalty 越小越好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9516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指标定义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022592" y="1901952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51192" y="18105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AOTV：同一规模下所有案例的平均总延误惩罚。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022592" y="2350008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51192" y="22585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Best：每个案例所有 seed 的最小 penalty，再对案例取平均。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22592" y="2798064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51192" y="27066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Std：实例级平均 penalty 的标准差，反映稳定性。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22592" y="3246120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51192" y="31546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ARPD：相对同案例最优结果的平均百分比偏差。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22592" y="3694176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51192" y="36027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Time：训练和构解总耗时的平均值。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14400" y="4892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914400" y="5404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总案例数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2926080" y="4892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6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2926080" y="5404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对比方法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4983480" y="4892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6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983480" y="5404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 seeds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实验文件: results/formal_j10_j20_j30_100cases_3seeds_scale_specific.xlsx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主结果：RQL 在三个规模上均取得最低 AOTV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417320"/>
          <a:ext cx="7452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64108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641080" y="20665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J10 RQL AOTV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864108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2.277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641080" y="32095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J20 RQL AOTV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641080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2.473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641080" y="43525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J30 RQL AOTV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749808" y="58064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解读：RQL 相比单纯 RH 进一步降低 AOTV，说明 Q 表学习到的动作偏好对 rollout 解码有增益；QL 单独使用在 J20/J30 上明显不稳定。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J10/J20/J30 100案例 x 3 seeds 正式对比实验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相对提升：RQL 的优势主要来自“学习 + 前瞻”的组合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32588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783080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691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J10: 相对 RH 降低 10.7%，相对 MPV-SLK-EFT 降低 40.9%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92440" y="2350008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258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J20: 相对 RH 降低 16.3%，相对 MXS+MF 降低 31.7%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92440" y="2916936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28254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J30: 相对 RH 降低 7.6%，相对 MXS+MF 降低 31.1%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92440" y="4160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2440" y="45537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在中小规模案例上，RQL 不只是替代启发式，而是在 rollout 基础上通过训练偏好继续压低 penalty。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J10/J20/J30 100案例 x 3 seeds 正式对比实验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稳健性：RQL 的 ARPD 在三个规模上均排名第1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572768"/>
          <a:ext cx="2971800" cy="196596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ARPD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第2名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366760" y="4069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ARPD 越低表示越接近同一案例上的已知最优结果。RQL 在 J20/J30 的 ARPD 明显低于启发式，说明优势不只体现在少数案例。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J10/J20/J30 100案例 x 3 seeds 正式对比实验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收敛性分析：RQL 显著改善中规模 Q 表稳定性，但时间成本上升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Rollout-Q-learning 动态调度算法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5212080" cy="1965960"/>
        </p:xfrm>
        <a:graphic>
          <a:graphicData uri="http://schemas.openxmlformats.org/drawingml/2006/table">
            <a:tbl>
              <a:tblPr/>
              <a:tblGrid>
                <a:gridCol w="685800"/>
                <a:gridCol w="1143000"/>
                <a:gridCol w="1143000"/>
                <a:gridCol w="2240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QL 收敛率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RQL 收敛率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RQL 平均 max Q diff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0.0032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0.0081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355080" y="1325880"/>
          <a:ext cx="4983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397764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J20/J30 中，RQL 收敛率高于 QL，说明前瞻信号和分规模训练策略有效降低 Q 表振荡。</a:t>
            </a:r>
            <a:endParaRPr lang="en-US" sz="1020" dirty="0"/>
          </a:p>
        </p:txBody>
      </p:sp>
      <p:sp>
        <p:nvSpPr>
          <p:cNvPr id="9" name="Shape 5"/>
          <p:cNvSpPr/>
          <p:nvPr/>
        </p:nvSpPr>
        <p:spPr>
          <a:xfrm>
            <a:off x="777240" y="4507992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5840" y="441655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J30 的代表性曲线仍有波动，说明大状态空间下训练稳定性仍是主要风险。</a:t>
            </a:r>
            <a:endParaRPr lang="en-US" sz="1020" dirty="0"/>
          </a:p>
        </p:txBody>
      </p:sp>
      <p:sp>
        <p:nvSpPr>
          <p:cNvPr id="11" name="Shape 7"/>
          <p:cNvSpPr/>
          <p:nvPr/>
        </p:nvSpPr>
        <p:spPr>
          <a:xfrm>
            <a:off x="777240" y="4946904"/>
            <a:ext cx="109728" cy="109728"/>
          </a:xfrm>
          <a:prstGeom prst="ellipse">
            <a:avLst/>
          </a:prstGeom>
          <a:solidFill>
            <a:srgbClr val="0A7C78"/>
          </a:solidFill>
          <a:ln w="12700">
            <a:solidFill>
              <a:srgbClr val="0A7C78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05840" y="485546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平均耗时：RQL J10 6.6s，J20 41.2s，J30 178.8s。</a:t>
            </a:r>
            <a:endParaRPr lang="en-US" sz="1020" dirty="0"/>
          </a:p>
        </p:txBody>
      </p:sp>
      <p:sp>
        <p:nvSpPr>
          <p:cNvPr id="13" name="Text 9"/>
          <p:cNvSpPr/>
          <p:nvPr/>
        </p:nvSpPr>
        <p:spPr>
          <a:xfrm>
            <a:off x="644652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代表性曲线来自 convergence sheet 中记录的案例，不代表所有案例逐轮平均。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30352" y="65288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2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J10/J20/J30 100案例 x 3 seeds 正式对比实验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" y="1554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RQL 的价值在于把“启发式前瞻”转化为可学习的动作偏好，并在最终构解中继续用 cost-to-go 控制解质量。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64592" cy="164592"/>
          </a:xfrm>
          <a:prstGeom prst="ellipse">
            <a:avLst/>
          </a:prstGeom>
          <a:solidFill>
            <a:srgbClr val="34A59B"/>
          </a:solidFill>
          <a:ln w="12700">
            <a:solidFill>
              <a:srgbClr val="34A5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7432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结果层面：J10/J20/J30 上 AOTV 与 ARPD 均排名第1。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34A59B"/>
          </a:solidFill>
          <a:ln w="12700">
            <a:solidFill>
              <a:srgbClr val="34A59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4290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机制层面：完整动作 Q 表、统一轨迹更新、scale-specific 收敛策略共同改善训练质量。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64592" cy="164592"/>
          </a:xfrm>
          <a:prstGeom prst="ellipse">
            <a:avLst/>
          </a:prstGeom>
          <a:solidFill>
            <a:srgbClr val="D69B2D"/>
          </a:solidFill>
          <a:ln w="12700">
            <a:solidFill>
              <a:srgbClr val="D69B2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1148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代价层面：RQL 在 J30 上耗时明显上升，后续需要继续优化缓存、候选动作剪枝和训练预算。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64592" cy="164592"/>
          </a:xfrm>
          <a:prstGeom prst="ellipse">
            <a:avLst/>
          </a:prstGeom>
          <a:solidFill>
            <a:srgbClr val="B64A3D"/>
          </a:solidFill>
          <a:ln w="12700">
            <a:solidFill>
              <a:srgbClr val="B64A3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800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论文表达：创新点应聚焦“Rollout 前瞻引导 Q-learning + 分规模收敛控制 + 可解释启发式基线对比”。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3044952" cy="6858000"/>
          </a:xfrm>
          <a:prstGeom prst="rect">
            <a:avLst/>
          </a:prstGeom>
          <a:solidFill>
            <a:srgbClr val="0B25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6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646920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AOTV rank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64692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4A5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646920" y="3300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6469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46920" y="46725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4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646920" y="5715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xyq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Rollout-Q-learning 的动态调度算法</dc:title>
  <dc:subject>Rollout-Q-learning dynamic scheduling algorithm</dc:subject>
  <dc:creator>Codex</dc:creator>
  <cp:lastModifiedBy>Codex</cp:lastModifiedBy>
  <cp:revision>1</cp:revision>
  <dcterms:created xsi:type="dcterms:W3CDTF">2026-05-09T12:04:06Z</dcterms:created>
  <dcterms:modified xsi:type="dcterms:W3CDTF">2026-05-09T12:04:06Z</dcterms:modified>
</cp:coreProperties>
</file>